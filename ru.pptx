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74" r:id="rId8"/>
    <p:sldId id="273" r:id="rId9"/>
    <p:sldId id="267" r:id="rId10"/>
    <p:sldId id="268" r:id="rId11"/>
    <p:sldId id="270" r:id="rId12"/>
    <p:sldId id="271" r:id="rId13"/>
    <p:sldId id="263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BC45890-910F-407F-A7AB-C9F81ABA5E44}">
          <p14:sldIdLst>
            <p14:sldId id="256"/>
            <p14:sldId id="257"/>
            <p14:sldId id="258"/>
            <p14:sldId id="259"/>
            <p14:sldId id="260"/>
            <p14:sldId id="266"/>
            <p14:sldId id="274"/>
            <p14:sldId id="273"/>
            <p14:sldId id="267"/>
            <p14:sldId id="268"/>
            <p14:sldId id="270"/>
            <p14:sldId id="271"/>
            <p14:sldId id="263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37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5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48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57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2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49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30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5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55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82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21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4516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895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656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078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879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08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216243-1CE7-405C-85F7-53F64E86B01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AA8EB-280F-4183-A0FD-06AB2676F1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848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041FC-17F5-3E7E-CA94-7791F3C9F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842" y="2335523"/>
            <a:ext cx="8937573" cy="1646302"/>
          </a:xfrm>
        </p:spPr>
        <p:txBody>
          <a:bodyPr/>
          <a:lstStyle/>
          <a:p>
            <a:r>
              <a:rPr lang="ru-RU" sz="4400" dirty="0"/>
              <a:t>Расширение для браузера с OCR</a:t>
            </a:r>
          </a:p>
        </p:txBody>
      </p:sp>
    </p:spTree>
    <p:extLst>
      <p:ext uri="{BB962C8B-B14F-4D97-AF65-F5344CB8AC3E}">
        <p14:creationId xmlns:p14="http://schemas.microsoft.com/office/powerpoint/2010/main" val="181779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FFDA2-C73F-9927-658E-27D8B729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Вводная 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6ABA72D8-32BA-BA70-AA5D-22FA6CE99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52997"/>
              </p:ext>
            </p:extLst>
          </p:nvPr>
        </p:nvGraphicFramePr>
        <p:xfrm>
          <a:off x="1234580" y="1696122"/>
          <a:ext cx="97228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710">
                  <a:extLst>
                    <a:ext uri="{9D8B030D-6E8A-4147-A177-3AD203B41FA5}">
                      <a16:colId xmlns:a16="http://schemas.microsoft.com/office/drawing/2014/main" val="1958464643"/>
                    </a:ext>
                  </a:extLst>
                </a:gridCol>
                <a:gridCol w="2430710">
                  <a:extLst>
                    <a:ext uri="{9D8B030D-6E8A-4147-A177-3AD203B41FA5}">
                      <a16:colId xmlns:a16="http://schemas.microsoft.com/office/drawing/2014/main" val="4154225716"/>
                    </a:ext>
                  </a:extLst>
                </a:gridCol>
                <a:gridCol w="2430710">
                  <a:extLst>
                    <a:ext uri="{9D8B030D-6E8A-4147-A177-3AD203B41FA5}">
                      <a16:colId xmlns:a16="http://schemas.microsoft.com/office/drawing/2014/main" val="2625152264"/>
                    </a:ext>
                  </a:extLst>
                </a:gridCol>
                <a:gridCol w="2430710">
                  <a:extLst>
                    <a:ext uri="{9D8B030D-6E8A-4147-A177-3AD203B41FA5}">
                      <a16:colId xmlns:a16="http://schemas.microsoft.com/office/drawing/2014/main" val="1621442185"/>
                    </a:ext>
                  </a:extLst>
                </a:gridCol>
              </a:tblGrid>
              <a:tr h="618301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effectLst/>
                          <a:latin typeface="quote-cjk-patch"/>
                        </a:rPr>
                        <a:t>OCR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Плюсы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Минусы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Для азербайджанского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06191262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Tesseract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Бесплатный, много языков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Сложная настройка, плохо с рукописным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Низкое качество, но обучаем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62156597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Google Vision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Высокая точность,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API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Платный, нет кастомизации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Только печатный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27396918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Amazon Textract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Хорош для форм, таблиц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Дорогой, только облако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Только печатный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22157728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EasyOCR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Простой в использовании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Точность ниже аналогов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Среднее качество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784435048"/>
                  </a:ext>
                </a:extLst>
              </a:tr>
              <a:tr h="61830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PaddleOCR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Лучшая точность, легкое дообучение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Требует своих данных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Среднее качество, но обучаем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936154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41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C64CF-D8E9-CFD2-A67A-7314B86B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  <a:endParaRPr lang="ru-RU" dirty="0"/>
          </a:p>
        </p:txBody>
      </p:sp>
      <p:pic>
        <p:nvPicPr>
          <p:cNvPr id="3074" name="Picture 2" descr="PaddleOCR Arch">
            <a:extLst>
              <a:ext uri="{FF2B5EF4-FFF2-40B4-BE49-F238E27FC236}">
                <a16:creationId xmlns:a16="http://schemas.microsoft.com/office/drawing/2014/main" id="{6226A7ED-3B4A-8C11-A710-8DD5CCF82C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92" y="1459550"/>
            <a:ext cx="9540815" cy="509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82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46A66-353E-2B8B-2430-AA7DDC284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labeling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211BAE14-F16F-476F-ACE0-BB8C63010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469" y="1318434"/>
            <a:ext cx="9255672" cy="4938931"/>
          </a:xfrm>
        </p:spPr>
      </p:pic>
    </p:spTree>
    <p:extLst>
      <p:ext uri="{BB962C8B-B14F-4D97-AF65-F5344CB8AC3E}">
        <p14:creationId xmlns:p14="http://schemas.microsoft.com/office/powerpoint/2010/main" val="159969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7D2C5-960C-A3D5-21B4-510CA0BF2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508B9B-CF6A-2A3A-BFCC-8B2D92CA5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853248"/>
            <a:ext cx="8946541" cy="4195481"/>
          </a:xfrm>
        </p:spPr>
        <p:txBody>
          <a:bodyPr>
            <a:normAutofit fontScale="92500"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Global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 epoch: 20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 testing: each 100 steps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Optimizer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Cosine learning rate: 0.000</a:t>
            </a:r>
            <a:r>
              <a:rPr lang="ru-RU" dirty="0"/>
              <a:t>5</a:t>
            </a:r>
            <a:r>
              <a:rPr lang="en-US" dirty="0"/>
              <a:t> </a:t>
            </a:r>
            <a:r>
              <a:rPr lang="ru-RU" dirty="0"/>
              <a:t>начинается с максимального значения, постепенно снижается до минимального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Architecture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SVTR – Scene Text Recognition with Vision Transformer - </a:t>
            </a:r>
            <a:r>
              <a:rPr lang="ru-RU" dirty="0"/>
              <a:t>Понимает слово целиком, учитывая контекст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PPHGNetV2_B4 - Hierarchical Grid Network –</a:t>
            </a:r>
            <a:endParaRPr lang="ru-RU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Batch size: 1500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Heads: CTC + NRTR</a:t>
            </a:r>
            <a:r>
              <a:rPr lang="ru-RU" dirty="0"/>
              <a:t> – первый посимвольно – второй текст целиком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/>
              <a:t>MultiLoss</a:t>
            </a:r>
            <a:r>
              <a:rPr lang="en-US" sz="1600" dirty="0"/>
              <a:t>: </a:t>
            </a:r>
            <a:r>
              <a:rPr lang="en-US" sz="1600" dirty="0" err="1"/>
              <a:t>CTCLoss</a:t>
            </a:r>
            <a:r>
              <a:rPr lang="en-US" sz="1600" dirty="0"/>
              <a:t> + </a:t>
            </a:r>
            <a:r>
              <a:rPr lang="en-US" sz="1600" dirty="0" err="1"/>
              <a:t>NRTRLoss</a:t>
            </a:r>
            <a:r>
              <a:rPr lang="en-US" sz="1600" dirty="0"/>
              <a:t> – </a:t>
            </a:r>
            <a:r>
              <a:rPr lang="ru-RU" sz="1600" dirty="0"/>
              <a:t>потери первый посимвольно – второй текст целиком</a:t>
            </a:r>
          </a:p>
        </p:txBody>
      </p:sp>
    </p:spTree>
    <p:extLst>
      <p:ext uri="{BB962C8B-B14F-4D97-AF65-F5344CB8AC3E}">
        <p14:creationId xmlns:p14="http://schemas.microsoft.com/office/powerpoint/2010/main" val="342885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6BA89-5E31-0FD7-DFC5-109994A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53EA889D-ED62-423D-A291-3AFD89CBFE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088900"/>
              </p:ext>
            </p:extLst>
          </p:nvPr>
        </p:nvGraphicFramePr>
        <p:xfrm>
          <a:off x="821702" y="1260560"/>
          <a:ext cx="9563036" cy="545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170">
                  <a:extLst>
                    <a:ext uri="{9D8B030D-6E8A-4147-A177-3AD203B41FA5}">
                      <a16:colId xmlns:a16="http://schemas.microsoft.com/office/drawing/2014/main" val="81919738"/>
                    </a:ext>
                  </a:extLst>
                </a:gridCol>
                <a:gridCol w="1323743">
                  <a:extLst>
                    <a:ext uri="{9D8B030D-6E8A-4147-A177-3AD203B41FA5}">
                      <a16:colId xmlns:a16="http://schemas.microsoft.com/office/drawing/2014/main" val="131893690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781475786"/>
                    </a:ext>
                  </a:extLst>
                </a:gridCol>
                <a:gridCol w="1173368">
                  <a:extLst>
                    <a:ext uri="{9D8B030D-6E8A-4147-A177-3AD203B41FA5}">
                      <a16:colId xmlns:a16="http://schemas.microsoft.com/office/drawing/2014/main" val="4096662128"/>
                    </a:ext>
                  </a:extLst>
                </a:gridCol>
                <a:gridCol w="703447">
                  <a:extLst>
                    <a:ext uri="{9D8B030D-6E8A-4147-A177-3AD203B41FA5}">
                      <a16:colId xmlns:a16="http://schemas.microsoft.com/office/drawing/2014/main" val="402961876"/>
                    </a:ext>
                  </a:extLst>
                </a:gridCol>
                <a:gridCol w="4587866">
                  <a:extLst>
                    <a:ext uri="{9D8B030D-6E8A-4147-A177-3AD203B41FA5}">
                      <a16:colId xmlns:a16="http://schemas.microsoft.com/office/drawing/2014/main" val="1265425138"/>
                    </a:ext>
                  </a:extLst>
                </a:gridCol>
              </a:tblGrid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Best Epoch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Val 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Loss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Data (images)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8515547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70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73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5.82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5166665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1.76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1026933"/>
                  </a:ext>
                </a:extLst>
              </a:tr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0393132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49707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71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86617264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928413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train7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test1-18.png (500)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0302838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Train8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test1-22.png (700)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4675394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train9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0211171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train10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49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53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8.03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43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6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6BA89-5E31-0FD7-DFC5-109994A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53EA889D-ED62-423D-A291-3AFD89CBFE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742080"/>
              </p:ext>
            </p:extLst>
          </p:nvPr>
        </p:nvGraphicFramePr>
        <p:xfrm>
          <a:off x="821702" y="1260560"/>
          <a:ext cx="9563036" cy="545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170">
                  <a:extLst>
                    <a:ext uri="{9D8B030D-6E8A-4147-A177-3AD203B41FA5}">
                      <a16:colId xmlns:a16="http://schemas.microsoft.com/office/drawing/2014/main" val="81919738"/>
                    </a:ext>
                  </a:extLst>
                </a:gridCol>
                <a:gridCol w="1323743">
                  <a:extLst>
                    <a:ext uri="{9D8B030D-6E8A-4147-A177-3AD203B41FA5}">
                      <a16:colId xmlns:a16="http://schemas.microsoft.com/office/drawing/2014/main" val="131893690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781475786"/>
                    </a:ext>
                  </a:extLst>
                </a:gridCol>
                <a:gridCol w="1173368">
                  <a:extLst>
                    <a:ext uri="{9D8B030D-6E8A-4147-A177-3AD203B41FA5}">
                      <a16:colId xmlns:a16="http://schemas.microsoft.com/office/drawing/2014/main" val="4096662128"/>
                    </a:ext>
                  </a:extLst>
                </a:gridCol>
                <a:gridCol w="703447">
                  <a:extLst>
                    <a:ext uri="{9D8B030D-6E8A-4147-A177-3AD203B41FA5}">
                      <a16:colId xmlns:a16="http://schemas.microsoft.com/office/drawing/2014/main" val="402961876"/>
                    </a:ext>
                  </a:extLst>
                </a:gridCol>
                <a:gridCol w="4587866">
                  <a:extLst>
                    <a:ext uri="{9D8B030D-6E8A-4147-A177-3AD203B41FA5}">
                      <a16:colId xmlns:a16="http://schemas.microsoft.com/office/drawing/2014/main" val="1265425138"/>
                    </a:ext>
                  </a:extLst>
                </a:gridCol>
              </a:tblGrid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Best Epoch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Val 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Loss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Data (images)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8515547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5.82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5166665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1.76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1026933"/>
                  </a:ext>
                </a:extLst>
              </a:tr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0393132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49707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71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86617264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928413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train7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test1-18.png (500)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0302838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Train8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1.33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Hand writing test1-22.png (700)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4675394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train9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0211171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train10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49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53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8.03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43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14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6BA89-5E31-0FD7-DFC5-109994A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53EA889D-ED62-423D-A291-3AFD89CBFE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1702" y="1260560"/>
          <a:ext cx="9563036" cy="545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170">
                  <a:extLst>
                    <a:ext uri="{9D8B030D-6E8A-4147-A177-3AD203B41FA5}">
                      <a16:colId xmlns:a16="http://schemas.microsoft.com/office/drawing/2014/main" val="81919738"/>
                    </a:ext>
                  </a:extLst>
                </a:gridCol>
                <a:gridCol w="1323743">
                  <a:extLst>
                    <a:ext uri="{9D8B030D-6E8A-4147-A177-3AD203B41FA5}">
                      <a16:colId xmlns:a16="http://schemas.microsoft.com/office/drawing/2014/main" val="131893690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781475786"/>
                    </a:ext>
                  </a:extLst>
                </a:gridCol>
                <a:gridCol w="1173368">
                  <a:extLst>
                    <a:ext uri="{9D8B030D-6E8A-4147-A177-3AD203B41FA5}">
                      <a16:colId xmlns:a16="http://schemas.microsoft.com/office/drawing/2014/main" val="4096662128"/>
                    </a:ext>
                  </a:extLst>
                </a:gridCol>
                <a:gridCol w="703447">
                  <a:extLst>
                    <a:ext uri="{9D8B030D-6E8A-4147-A177-3AD203B41FA5}">
                      <a16:colId xmlns:a16="http://schemas.microsoft.com/office/drawing/2014/main" val="402961876"/>
                    </a:ext>
                  </a:extLst>
                </a:gridCol>
                <a:gridCol w="4587866">
                  <a:extLst>
                    <a:ext uri="{9D8B030D-6E8A-4147-A177-3AD203B41FA5}">
                      <a16:colId xmlns:a16="http://schemas.microsoft.com/office/drawing/2014/main" val="1265425138"/>
                    </a:ext>
                  </a:extLst>
                </a:gridCol>
              </a:tblGrid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Best Epoch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Val Acc 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Loss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Data (images)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8515547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73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5.82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5166665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train2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93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1.76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1026933"/>
                  </a:ext>
                </a:extLst>
              </a:tr>
              <a:tr h="61134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0393132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200k Val 20k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49707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71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3.47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86617264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87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2.57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9284139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train7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114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99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55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1.35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Hand writing test1-18.png (500)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0302838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Train8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89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98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56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1.33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Hand writing test1-22.png (700)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46753946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quote-cjk-patch"/>
                        </a:rPr>
                        <a:t>train9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3.14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0211171"/>
                  </a:ext>
                </a:extLst>
              </a:tr>
              <a:tr h="4707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train10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12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49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53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8.03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synthetic data Train 100k Val 10k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43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11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>
            <a:extLst>
              <a:ext uri="{FF2B5EF4-FFF2-40B4-BE49-F238E27FC236}">
                <a16:creationId xmlns:a16="http://schemas.microsoft.com/office/drawing/2014/main" id="{31C489E5-5ACA-46C3-B7A1-1EC7CB9C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05D9517-5652-4604-97C2-CB2F57849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25" y="1203761"/>
            <a:ext cx="11359949" cy="3110753"/>
          </a:xfrm>
          <a:prstGeom prst="rect">
            <a:avLst/>
          </a:prstGeom>
        </p:spPr>
      </p:pic>
      <p:graphicFrame>
        <p:nvGraphicFramePr>
          <p:cNvPr id="22" name="Таблица 22">
            <a:extLst>
              <a:ext uri="{FF2B5EF4-FFF2-40B4-BE49-F238E27FC236}">
                <a16:creationId xmlns:a16="http://schemas.microsoft.com/office/drawing/2014/main" id="{36E13407-CA7E-4DEC-8CA5-4354C1802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56109"/>
              </p:ext>
            </p:extLst>
          </p:nvPr>
        </p:nvGraphicFramePr>
        <p:xfrm>
          <a:off x="416025" y="4486238"/>
          <a:ext cx="11359949" cy="11125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76721">
                  <a:extLst>
                    <a:ext uri="{9D8B030D-6E8A-4147-A177-3AD203B41FA5}">
                      <a16:colId xmlns:a16="http://schemas.microsoft.com/office/drawing/2014/main" val="3291155590"/>
                    </a:ext>
                  </a:extLst>
                </a:gridCol>
                <a:gridCol w="9883228">
                  <a:extLst>
                    <a:ext uri="{9D8B030D-6E8A-4147-A177-3AD203B41FA5}">
                      <a16:colId xmlns:a16="http://schemas.microsoft.com/office/drawing/2014/main" val="2325188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Paddle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Verilmasinədairetibarnamənin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tasdiqi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siyahisi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Naqliyyat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vasitsinə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mülkiyət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tsdiq</a:t>
                      </a:r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4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Nəmqliyyat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2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təssdiqi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şəhadətnaməsiy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sənədş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lvətəndaşlıq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4693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BD89FFE5-296D-4375-B8EE-1818965AC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56109"/>
              </p:ext>
            </p:extLst>
          </p:nvPr>
        </p:nvGraphicFramePr>
        <p:xfrm>
          <a:off x="416025" y="4541719"/>
          <a:ext cx="11359949" cy="11125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76721">
                  <a:extLst>
                    <a:ext uri="{9D8B030D-6E8A-4147-A177-3AD203B41FA5}">
                      <a16:colId xmlns:a16="http://schemas.microsoft.com/office/drawing/2014/main" val="3291155590"/>
                    </a:ext>
                  </a:extLst>
                </a:gridCol>
                <a:gridCol w="9883228">
                  <a:extLst>
                    <a:ext uri="{9D8B030D-6E8A-4147-A177-3AD203B41FA5}">
                      <a16:colId xmlns:a16="http://schemas.microsoft.com/office/drawing/2014/main" val="2325188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Paddle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Verilmasinədairetibarnamənin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tasdiqi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siyahisi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Naqliyyat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vasitsinə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mülkiyət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tsdiq</a:t>
                      </a:r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4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Nəmqliyyat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2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təssdiqi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şəhadətnaməsiy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sənədş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lvətəndaşlıq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2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F358DD-9AB4-47C2-BB42-826224F17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55" y="271894"/>
            <a:ext cx="8345486" cy="6081130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FEA2F6D-74DE-42D9-BB7A-FCD3F3458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52270"/>
              </p:ext>
            </p:extLst>
          </p:nvPr>
        </p:nvGraphicFramePr>
        <p:xfrm>
          <a:off x="5585013" y="1237129"/>
          <a:ext cx="6445832" cy="5468471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190933">
                  <a:extLst>
                    <a:ext uri="{9D8B030D-6E8A-4147-A177-3AD203B41FA5}">
                      <a16:colId xmlns:a16="http://schemas.microsoft.com/office/drawing/2014/main" val="3291155590"/>
                    </a:ext>
                  </a:extLst>
                </a:gridCol>
                <a:gridCol w="5254899">
                  <a:extLst>
                    <a:ext uri="{9D8B030D-6E8A-4147-A177-3AD203B41FA5}">
                      <a16:colId xmlns:a16="http://schemas.microsoft.com/office/drawing/2014/main" val="2325188751"/>
                    </a:ext>
                  </a:extLst>
                </a:gridCol>
              </a:tblGrid>
              <a:tr h="2277427">
                <a:tc>
                  <a:txBody>
                    <a:bodyPr/>
                    <a:lstStyle/>
                    <a:p>
                      <a:r>
                        <a:rPr lang="en-US" b="0" dirty="0"/>
                        <a:t>Paddle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oryalx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HAQQINDAAKTINQEYDIN1IO3 "25"0ctyab2 200il BAKI SOHORI INOOODI RAYON (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Birinci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nüsxa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QEYDIYYAT SOBSI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Evlananler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haqqinda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melumat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Kisi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Qadin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SuküYo</a:t>
                      </a:r>
                      <a:r>
                        <a:rPr lang="el-GR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ν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46234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 dirty="0"/>
                        <a:t>Model1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HAQOİNDA AKTİN QEYDİ N  </a:t>
                      </a:r>
                      <a:r>
                        <a:rPr lang="en-US" dirty="0" err="1"/>
                        <a:t>dOicryoabzzoŞ</a:t>
                      </a:r>
                      <a:r>
                        <a:rPr lang="en-US" dirty="0"/>
                        <a:t> il </a:t>
                      </a:r>
                      <a:r>
                        <a:rPr lang="en-US" dirty="0" err="1"/>
                        <a:t>BKİŞşHmRİ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İNmDİ</a:t>
                      </a:r>
                      <a:r>
                        <a:rPr lang="en-US" dirty="0"/>
                        <a:t> RAYN </a:t>
                      </a:r>
                      <a:r>
                        <a:rPr lang="en-US" dirty="0" err="1"/>
                        <a:t>Birinci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nüsxə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QzmYİY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YATşöOBəmsİ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Emvlənənlər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haqında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məlumat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Kişi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Qadın</a:t>
                      </a:r>
                      <a:r>
                        <a:rPr lang="en-US" dirty="0"/>
                        <a:t> t  </a:t>
                      </a:r>
                      <a:r>
                        <a:rPr lang="en-US" dirty="0" err="1"/>
                        <a:t>Soyadı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21423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 dirty="0"/>
                        <a:t>Model2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HAQQİNDA  AKTIN  QYDİ  N  </a:t>
                      </a:r>
                      <a:r>
                        <a:rPr lang="en-US" dirty="0" err="1"/>
                        <a:t>Oiedruoeob</a:t>
                      </a:r>
                      <a:r>
                        <a:rPr lang="en-US" dirty="0"/>
                        <a:t> Zo Y il AKI  ŞERİ İNDİ  RAYN </a:t>
                      </a:r>
                      <a:r>
                        <a:rPr lang="en-US" dirty="0" err="1"/>
                        <a:t>Birinci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nüsxə</a:t>
                      </a:r>
                      <a:r>
                        <a:rPr lang="en-US" dirty="0"/>
                        <a:t> QYDİYYATŞÖBSİ </a:t>
                      </a:r>
                      <a:r>
                        <a:rPr lang="en-US" dirty="0" err="1"/>
                        <a:t>vlənənlər</a:t>
                      </a:r>
                      <a:r>
                        <a:rPr lang="en-US" dirty="0"/>
                        <a:t>   </a:t>
                      </a:r>
                      <a:r>
                        <a:rPr lang="en-US" dirty="0" err="1"/>
                        <a:t>haqında</a:t>
                      </a:r>
                      <a:r>
                        <a:rPr lang="en-US" dirty="0"/>
                        <a:t>   </a:t>
                      </a:r>
                      <a:r>
                        <a:rPr lang="en-US" dirty="0" err="1"/>
                        <a:t>məlumat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Kişi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Qadımn</a:t>
                      </a:r>
                      <a:r>
                        <a:rPr lang="en-US" dirty="0"/>
                        <a:t>   </a:t>
                      </a:r>
                      <a:r>
                        <a:rPr lang="en-US" dirty="0" err="1"/>
                        <a:t>Soyadı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45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B22159-784A-4573-AD11-F4B97908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25" y="206189"/>
            <a:ext cx="7449881" cy="6306984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FEA2F6D-74DE-42D9-BB7A-FCD3F3458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70111"/>
              </p:ext>
            </p:extLst>
          </p:nvPr>
        </p:nvGraphicFramePr>
        <p:xfrm>
          <a:off x="5531225" y="1165411"/>
          <a:ext cx="6445832" cy="54864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190933">
                  <a:extLst>
                    <a:ext uri="{9D8B030D-6E8A-4147-A177-3AD203B41FA5}">
                      <a16:colId xmlns:a16="http://schemas.microsoft.com/office/drawing/2014/main" val="3291155590"/>
                    </a:ext>
                  </a:extLst>
                </a:gridCol>
                <a:gridCol w="5254899">
                  <a:extLst>
                    <a:ext uri="{9D8B030D-6E8A-4147-A177-3AD203B41FA5}">
                      <a16:colId xmlns:a16="http://schemas.microsoft.com/office/drawing/2014/main" val="2325188751"/>
                    </a:ext>
                  </a:extLst>
                </a:gridCol>
              </a:tblGrid>
              <a:tr h="1389530">
                <a:tc>
                  <a:txBody>
                    <a:bodyPr/>
                    <a:lstStyle/>
                    <a:p>
                      <a:r>
                        <a:rPr lang="en-US" b="0" dirty="0"/>
                        <a:t>Paddle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hna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 had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lrrativ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hüquqi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aktlar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əsasinda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tərtib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edilmişdir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Sexsi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mlumatlAR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Ad,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Soyad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Ata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Hüseynov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∂li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Məmməd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oğlu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Doğum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tarixi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15.05.1985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Doğum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yeri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Bakı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şəhəri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Vətəndaşliq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Azərbaycan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46234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 dirty="0"/>
                        <a:t>Model1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RSMİ </a:t>
                      </a:r>
                      <a:r>
                        <a:rPr lang="en-US" dirty="0" err="1"/>
                        <a:t>İŞçİ</a:t>
                      </a:r>
                      <a:r>
                        <a:rPr lang="en-US" dirty="0"/>
                        <a:t> ŞHADTNAMSİ Bu </a:t>
                      </a:r>
                      <a:r>
                        <a:rPr lang="en-US" dirty="0" err="1"/>
                        <a:t>şəhadətnamə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Respublikasının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lnmək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Məcəlləsi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digər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normativ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hüquqi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aktlar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əsasında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tərtib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edilmişdir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ŞSİMLnUhMTL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Soyad</a:t>
                      </a:r>
                      <a:r>
                        <a:rPr lang="en-US" dirty="0"/>
                        <a:t> Ata </a:t>
                      </a:r>
                      <a:r>
                        <a:rPr lang="en-US" dirty="0" err="1"/>
                        <a:t>adı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Hüseynov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Cli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Məmməd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oğlu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Doğumtarixi</a:t>
                      </a:r>
                      <a:r>
                        <a:rPr lang="en-US" dirty="0"/>
                        <a:t> tm O </a:t>
                      </a:r>
                      <a:r>
                        <a:rPr lang="en-US" dirty="0" err="1"/>
                        <a:t>mT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Doğumyeri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Bakı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şəhəri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Vətəndaşlıq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21423"/>
                  </a:ext>
                </a:extLst>
              </a:tr>
              <a:tr h="1595522">
                <a:tc>
                  <a:txBody>
                    <a:bodyPr/>
                    <a:lstStyle/>
                    <a:p>
                      <a:r>
                        <a:rPr lang="en-US"/>
                        <a:t>Model2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RSMİ İŞÇİ ŞHADTNAMSİ Bu </a:t>
                      </a:r>
                      <a:r>
                        <a:rPr lang="en-US" dirty="0" err="1"/>
                        <a:t>şəhadətnamə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Respublikasının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Məcəlləsi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digər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normativ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hüquqi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aktlar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əsasında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tərtib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edilmişdir</a:t>
                      </a:r>
                      <a:r>
                        <a:rPr lang="en-US" dirty="0"/>
                        <a:t> ŞXSİMLUMATLAR Ad </a:t>
                      </a:r>
                      <a:r>
                        <a:rPr lang="en-US" dirty="0" err="1"/>
                        <a:t>Soyad</a:t>
                      </a:r>
                      <a:r>
                        <a:rPr lang="en-US" dirty="0"/>
                        <a:t> Ata </a:t>
                      </a:r>
                      <a:r>
                        <a:rPr lang="en-US" dirty="0" err="1"/>
                        <a:t>adı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Hüseynov</a:t>
                      </a:r>
                      <a:r>
                        <a:rPr lang="en-US" dirty="0"/>
                        <a:t> li </a:t>
                      </a:r>
                      <a:r>
                        <a:rPr lang="en-US" dirty="0" err="1"/>
                        <a:t>Məmməd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oğlu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Doğumtarixi</a:t>
                      </a:r>
                      <a:r>
                        <a:rPr lang="en-US" dirty="0"/>
                        <a:t>   OMS </a:t>
                      </a:r>
                      <a:r>
                        <a:rPr lang="en-US" dirty="0" err="1"/>
                        <a:t>Doğum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yeri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Bakı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şəhəri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Vətəndaşlıq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Azərbaycan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306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9F874-9119-4F6F-A80E-AD44D5BC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288B9F-EA75-468A-984E-4414ACCDE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370" y="609601"/>
            <a:ext cx="4444377" cy="5818094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8663D654-9634-4BC9-8C04-DBF901FC8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82" y="4437532"/>
            <a:ext cx="3995607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Серверный вариант: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1.5 GB for each image</a:t>
            </a:r>
            <a:r>
              <a:rPr lang="ru-RU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Браузерный вариант: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/>
              <a:t>Нет официального .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ru-RU" dirty="0"/>
              <a:t>фреймворка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78777B1-6EFC-46C0-9967-92AFCA60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64" y="1337594"/>
            <a:ext cx="5194324" cy="291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27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8B0D7-09B1-C4C8-6489-96D3366D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DB564-CB0D-466F-801B-0CF0D120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42" y="1566378"/>
            <a:ext cx="8946541" cy="419548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800" dirty="0"/>
              <a:t>Достигнутые результаты: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600" dirty="0"/>
              <a:t>Разметка начальных данных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600" dirty="0"/>
              <a:t>Синтетические печатные данные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600" dirty="0"/>
              <a:t>Конфигурация моделей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/>
              <a:t>Требуется: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600" dirty="0"/>
              <a:t>Больше рукописных данных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600" dirty="0"/>
              <a:t>Время обучения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600" dirty="0"/>
              <a:t>Доработать расширение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4534EA-027C-4877-9EF2-E03E78BD7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45649"/>
                </a:solidFill>
                <a:effectLst/>
                <a:latin typeface="Menlo"/>
              </a:rPr>
              <a:t>❌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65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04910-3BB8-4597-9361-149894C8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688" y="2953871"/>
            <a:ext cx="9404723" cy="1400530"/>
          </a:xfrm>
        </p:spPr>
        <p:txBody>
          <a:bodyPr/>
          <a:lstStyle/>
          <a:p>
            <a:r>
              <a:rPr lang="ru-RU" sz="6000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33506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2906</TotalTime>
  <Words>802</Words>
  <Application>Microsoft Office PowerPoint</Application>
  <PresentationFormat>Широкоэкранный</PresentationFormat>
  <Paragraphs>282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Century Gothic</vt:lpstr>
      <vt:lpstr>Menlo</vt:lpstr>
      <vt:lpstr>quote-cjk-patch</vt:lpstr>
      <vt:lpstr>Wingdings</vt:lpstr>
      <vt:lpstr>Wingdings 3</vt:lpstr>
      <vt:lpstr>Ион</vt:lpstr>
      <vt:lpstr>Расширение для браузера с OCR</vt:lpstr>
      <vt:lpstr>Вводная </vt:lpstr>
      <vt:lpstr>Documentation</vt:lpstr>
      <vt:lpstr>Data labeling</vt:lpstr>
      <vt:lpstr>Configuration</vt:lpstr>
      <vt:lpstr>Обучение модели </vt:lpstr>
      <vt:lpstr>Обучение модели </vt:lpstr>
      <vt:lpstr>Обучение модели </vt:lpstr>
      <vt:lpstr>Тесты</vt:lpstr>
      <vt:lpstr>Презентация PowerPoint</vt:lpstr>
      <vt:lpstr>Презентация PowerPoint</vt:lpstr>
      <vt:lpstr>Extension</vt:lpstr>
      <vt:lpstr>Вывод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Расширение для браузера с OCR</dc:title>
  <dc:creator>DripDrop DripDrop</dc:creator>
  <cp:lastModifiedBy>gurbanov elshan</cp:lastModifiedBy>
  <cp:revision>34</cp:revision>
  <dcterms:created xsi:type="dcterms:W3CDTF">2025-11-17T03:57:41Z</dcterms:created>
  <dcterms:modified xsi:type="dcterms:W3CDTF">2025-11-21T04:42:47Z</dcterms:modified>
</cp:coreProperties>
</file>